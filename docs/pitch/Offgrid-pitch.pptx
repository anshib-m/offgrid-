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fa360bbb-ac07-fc4e-2abc-eef1a6d5294a}">
          <p14:sldIdLst>
            <p14:sldId id="256"/>
          </p14:sldIdLst>
        </p14:section>
        <p14:section name="Problem and idea" id="{e720590b-5f08-ee99-770b-0b5af986c758}">
          <p14:sldIdLst>
            <p14:sldId id="257"/>
            <p14:sldId id="258"/>
          </p14:sldIdLst>
        </p14:section>
        <p14:section name="How it works" id="{0a3dfb64-d31d-9c93-be05-c85e303acc12}">
          <p14:sldIdLst>
            <p14:sldId id="259"/>
            <p14:sldId id="260"/>
          </p14:sldIdLst>
        </p14:section>
        <p14:section name="Trust and proof" id="{08001cb1-6242-1565-ade4-c5e64cf6b906}">
          <p14:sldIdLst>
            <p14:sldId id="261"/>
            <p14:sldId id="262"/>
          </p14:sldIdLst>
        </p14:section>
        <p14:section name="Close" id="{4111e042-ab89-6539-7ba9-8c145770278a}">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[0:00 - 0:20] We are Team Offgrid. Our idea: your medical history lives on your phone, and a hospital only sees what you approve. This is the Cyber in Healthcare track, challenge 4. Everything you see runs on synthetic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[0:20 - 0:55] Four problems. Patients repeat the same forms. They cannot see who accessed their data. A photo of a report looks the same as a doctor-signed record. And in an emergency the patient cannot say yes. Hospitals today tend to share everything with whoever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[0:55 - 1:40] The flow. The patient shows a one-time QR that holds no data. The hospital scans it and sees only name and age. It asks for specific records. The patient approves, narrows or denies, with a time limit. Only that is returned. They can revoke at any moment, even a single doctor, and every access is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[1:40 - 2:20] Trust. Every record is either verified, meaning a doctor signed it, or unverified. A photo a patient uploads stays unverified until a doctor signs it. If anyone edits a signed record afterwards, the signature check fails and the app shows a warning. The database also blocks edits and deletes of signed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[2:20 - 3:20] The visit. Reception sees which doctors are available and assigns one, with a reason. The patient app shows 'Your visit' and which doctor to go to. When the patient arrives, the doctor scans the patient's QR again. Only the assigned doctor's scan works. That starts the consultation and opens the patient's file with the reason on top. If the patient stops trusting that doctor, they can revoke just that doctor and the hospital's other staff keep their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[3:20 - 4:00] Security design. Every read passes the consent check. Doctors sign records with Ed25519. A database rule makes signed records and the audit log permanent. The audit log keeps scrambled patient references, not names, and we are clear that this is pseudonymization, not anonymization. Notes are encrypted at rest. Emergency access shows critical facts only for one hour and always notifies the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[4:00 - 4:40] Evidence and honesty. 90 automated checks pass against the real API and database, and we verified a fresh clone from GitHub works from the README. No real patient data is used. We list what a real deployment still needs: keys in an HSM, a stronger password reset than date of birth, NFC cards, encrypted file storage, TLS and a regulatory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[4:40 - 5:00] To close: the patient approves, the doctor signs, and everything is logged. The code is open source under MIT at the address on the slide, with setup steps, a demo script, a threat model and test evidence.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FFGRID_TITLE">
    <p:bg>
      <p:bgPr>
        <a:solidFill>
          <a:srgbClr val="0D15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852160" cy="100584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548640" y="2331720"/>
            <a:ext cx="5669280" cy="118872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FFGRID_CONTENT">
    <p:bg>
      <p:bgPr>
        <a:solidFill>
          <a:srgbClr val="F1F6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1000" dirty="0">
                <a:solidFill>
                  <a:schemeClr val="accent5"/>
                </a:solidFill>
              </a:rPr>
              <a:t>Offgrid  |  ASTRA 2026  |  Cyber in Healthcare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FFGRID_CLOSING">
    <p:bg>
      <p:bgPr>
        <a:solidFill>
          <a:srgbClr val="0D15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804672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852160" cy="1005840"/>
          </a:xfrm>
          <a:prstGeom prst="rect">
            <a:avLst/>
          </a:prstGeom>
          <a:noFill/>
          <a:ln/>
        </p:spPr>
        <p:txBody>
          <a:bodyPr wrap="square" lIns="0" tIns="0" rIns="0" bIns="0" rtlCol="0" anchor="ctr"/>
          <a:lstStyle/>
          <a:p>
            <a:pPr algn="l" indent="0" marL="0">
              <a:buNone/>
            </a:pPr>
            <a:r>
              <a:rPr lang="en-US" sz="6000" b="1" dirty="0">
                <a:solidFill>
                  <a:schemeClr val="bg1"/>
                </a:solidFill>
              </a:rPr>
              <a:t>Offgrid</a:t>
            </a:r>
            <a:endParaRPr lang="en-US" sz="6000" dirty="0"/>
          </a:p>
        </p:txBody>
      </p:sp>
      <p:sp>
        <p:nvSpPr>
          <p:cNvPr id="3" name="Text 0"/>
          <p:cNvSpPr/>
          <p:nvPr>
            <p:ph idx="101" type="body" hasCustomPrompt="1"/>
          </p:nvPr>
        </p:nvSpPr>
        <p:spPr>
          <a:xfrm>
            <a:off x="548640" y="2331720"/>
            <a:ext cx="5669280" cy="1188720"/>
          </a:xfrm>
          <a:prstGeom prst="rect">
            <a:avLst/>
          </a:prstGeom>
          <a:noFill/>
          <a:ln/>
        </p:spPr>
        <p:txBody>
          <a:bodyPr wrap="square" lIns="0" tIns="0" rIns="0" bIns="0" rtlCol="0" anchor="t"/>
          <a:lstStyle/>
          <a:p>
            <a:pPr algn="l" indent="0" marL="0">
              <a:buNone/>
            </a:pPr>
            <a:r>
              <a:rPr lang="en-US" sz="2200" dirty="0">
                <a:solidFill>
                  <a:schemeClr val="accent6"/>
                </a:solidFill>
              </a:rPr>
              <a:t>Your medical history lives on your phone. Hospitals see only what you approve.</a:t>
            </a:r>
            <a:endParaRPr lang="en-US" sz="2200" dirty="0"/>
          </a:p>
        </p:txBody>
      </p:sp>
      <p:sp>
        <p:nvSpPr>
          <p:cNvPr id="4" name="Event line"/>
          <p:cNvSpPr txBox="1"/>
          <p:nvPr/>
        </p:nvSpPr>
        <p:spPr>
          <a:xfrm>
            <a:off x="548640" y="4343400"/>
            <a:ext cx="6035040" cy="274320"/>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Team Offgrid  |  ASTRA 2026  |  Cyber in Healthcare  |  Challenge 4</a:t>
            </a:r>
            <a:endParaRPr lang="en-US" sz="1200" dirty="0"/>
          </a:p>
        </p:txBody>
      </p:sp>
      <p:sp>
        <p:nvSpPr>
          <p:cNvPr id="5" name="Phone frame"/>
          <p:cNvSpPr/>
          <p:nvPr/>
        </p:nvSpPr>
        <p:spPr>
          <a:xfrm>
            <a:off x="6903720" y="502920"/>
            <a:ext cx="1828800" cy="4023360"/>
          </a:xfrm>
          <a:prstGeom prst="roundRect">
            <a:avLst>
              <a:gd name="adj" fmla="val 9000"/>
            </a:avLst>
          </a:prstGeom>
          <a:solidFill>
            <a:srgbClr val="1B2742"/>
          </a:solidFill>
          <a:ln w="12700">
            <a:solidFill>
              <a:srgbClr val="1B2742"/>
            </a:solidFill>
            <a:prstDash val="solid"/>
          </a:ln>
        </p:spPr>
      </p:sp>
      <p:pic>
        <p:nvPicPr>
          <p:cNvPr id="6" name="Patient app screenshot" descr="Patient app home screen with the visit card and QR button">    </p:cNvPr>
          <p:cNvPicPr>
            <a:picLocks noChangeAspect="1"/>
          </p:cNvPicPr>
          <p:nvPr/>
        </p:nvPicPr>
        <p:blipFill>
          <a:blip r:embed="rId1"/>
          <a:stretch>
            <a:fillRect/>
          </a:stretch>
        </p:blipFill>
        <p:spPr>
          <a:xfrm>
            <a:off x="6986016" y="603504"/>
            <a:ext cx="1664208" cy="35981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Health data is scattered, and patients have no say</a:t>
            </a:r>
            <a:endParaRPr lang="en-US" sz="3400" dirty="0"/>
          </a:p>
        </p:txBody>
      </p:sp>
      <p:sp>
        <p:nvSpPr>
          <p:cNvPr id="3" name="Problem card 1"/>
          <p:cNvSpPr/>
          <p:nvPr/>
        </p:nvSpPr>
        <p:spPr>
          <a:xfrm>
            <a:off x="457200" y="1234440"/>
            <a:ext cx="4023360" cy="1417320"/>
          </a:xfrm>
          <a:prstGeom prst="roundRect">
            <a:avLst>
              <a:gd name="adj" fmla="val 7742"/>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4" name="Problem icon bg 1"/>
          <p:cNvSpPr/>
          <p:nvPr/>
        </p:nvSpPr>
        <p:spPr>
          <a:xfrm>
            <a:off x="685800" y="1508760"/>
            <a:ext cx="640080" cy="640080"/>
          </a:xfrm>
          <a:prstGeom prst="ellipse">
            <a:avLst/>
          </a:prstGeom>
          <a:solidFill>
            <a:srgbClr val="10B981"/>
          </a:solidFill>
          <a:ln w="12700">
            <a:solidFill>
              <a:srgbClr val="10B981"/>
            </a:solidFill>
            <a:prstDash val="solid"/>
          </a:ln>
        </p:spPr>
      </p:sp>
      <p:pic>
        <p:nvPicPr>
          <p:cNvPr id="5" name="Problem icon 1" descr="Problem icon 1">    </p:cNvPr>
          <p:cNvPicPr>
            <a:picLocks noChangeAspect="1"/>
          </p:cNvPicPr>
          <p:nvPr/>
        </p:nvPicPr>
        <p:blipFill>
          <a:blip r:embed="rId1"/>
          <a:stretch>
            <a:fillRect/>
          </a:stretch>
        </p:blipFill>
        <p:spPr>
          <a:xfrm>
            <a:off x="841248" y="1664208"/>
            <a:ext cx="329184" cy="329184"/>
          </a:xfrm>
          <a:prstGeom prst="rect">
            <a:avLst/>
          </a:prstGeom>
        </p:spPr>
      </p:pic>
      <p:sp>
        <p:nvSpPr>
          <p:cNvPr id="6" name="Problem title 1"/>
          <p:cNvSpPr txBox="1"/>
          <p:nvPr/>
        </p:nvSpPr>
        <p:spPr>
          <a:xfrm>
            <a:off x="1508760" y="1435608"/>
            <a:ext cx="2834640" cy="3657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Same forms, every hospital</a:t>
            </a:r>
            <a:endParaRPr lang="en-US" sz="1800" dirty="0"/>
          </a:p>
        </p:txBody>
      </p:sp>
      <p:sp>
        <p:nvSpPr>
          <p:cNvPr id="7" name="Problem text 1"/>
          <p:cNvSpPr txBox="1"/>
          <p:nvPr/>
        </p:nvSpPr>
        <p:spPr>
          <a:xfrm>
            <a:off x="1508760" y="1828800"/>
            <a:ext cx="2834640" cy="68580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Patients repeat their details everywhere, and their history is split across hospitals.</a:t>
            </a:r>
            <a:endParaRPr lang="en-US" sz="1400" dirty="0"/>
          </a:p>
        </p:txBody>
      </p:sp>
      <p:sp>
        <p:nvSpPr>
          <p:cNvPr id="8" name="Problem card 2"/>
          <p:cNvSpPr/>
          <p:nvPr/>
        </p:nvSpPr>
        <p:spPr>
          <a:xfrm>
            <a:off x="4663440" y="1234440"/>
            <a:ext cx="4023360" cy="1417320"/>
          </a:xfrm>
          <a:prstGeom prst="roundRect">
            <a:avLst>
              <a:gd name="adj" fmla="val 7742"/>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9" name="Problem icon bg 2"/>
          <p:cNvSpPr/>
          <p:nvPr/>
        </p:nvSpPr>
        <p:spPr>
          <a:xfrm>
            <a:off x="4892040" y="1508760"/>
            <a:ext cx="640080" cy="640080"/>
          </a:xfrm>
          <a:prstGeom prst="ellipse">
            <a:avLst/>
          </a:prstGeom>
          <a:solidFill>
            <a:srgbClr val="4CD7F6"/>
          </a:solidFill>
          <a:ln w="12700">
            <a:solidFill>
              <a:srgbClr val="4CD7F6"/>
            </a:solidFill>
            <a:prstDash val="solid"/>
          </a:ln>
        </p:spPr>
      </p:sp>
      <p:pic>
        <p:nvPicPr>
          <p:cNvPr id="10" name="Problem icon 2" descr="Problem icon 2">    </p:cNvPr>
          <p:cNvPicPr>
            <a:picLocks noChangeAspect="1"/>
          </p:cNvPicPr>
          <p:nvPr/>
        </p:nvPicPr>
        <p:blipFill>
          <a:blip r:embed="rId2"/>
          <a:stretch>
            <a:fillRect/>
          </a:stretch>
        </p:blipFill>
        <p:spPr>
          <a:xfrm>
            <a:off x="5047488" y="1664208"/>
            <a:ext cx="329184" cy="329184"/>
          </a:xfrm>
          <a:prstGeom prst="rect">
            <a:avLst/>
          </a:prstGeom>
        </p:spPr>
      </p:pic>
      <p:sp>
        <p:nvSpPr>
          <p:cNvPr id="11" name="Problem title 2"/>
          <p:cNvSpPr txBox="1"/>
          <p:nvPr/>
        </p:nvSpPr>
        <p:spPr>
          <a:xfrm>
            <a:off x="5715000" y="1435608"/>
            <a:ext cx="2834640" cy="3657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No visibility</a:t>
            </a:r>
            <a:endParaRPr lang="en-US" sz="1800" dirty="0"/>
          </a:p>
        </p:txBody>
      </p:sp>
      <p:sp>
        <p:nvSpPr>
          <p:cNvPr id="12" name="Problem text 2"/>
          <p:cNvSpPr txBox="1"/>
          <p:nvPr/>
        </p:nvSpPr>
        <p:spPr>
          <a:xfrm>
            <a:off x="5715000" y="1828800"/>
            <a:ext cx="2834640" cy="68580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Patients cannot see or control who looked at their records.</a:t>
            </a:r>
            <a:endParaRPr lang="en-US" sz="1400" dirty="0"/>
          </a:p>
        </p:txBody>
      </p:sp>
      <p:sp>
        <p:nvSpPr>
          <p:cNvPr id="13" name="Problem card 3"/>
          <p:cNvSpPr/>
          <p:nvPr/>
        </p:nvSpPr>
        <p:spPr>
          <a:xfrm>
            <a:off x="457200" y="2834640"/>
            <a:ext cx="4023360" cy="1417320"/>
          </a:xfrm>
          <a:prstGeom prst="roundRect">
            <a:avLst>
              <a:gd name="adj" fmla="val 7742"/>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14" name="Problem icon bg 3"/>
          <p:cNvSpPr/>
          <p:nvPr/>
        </p:nvSpPr>
        <p:spPr>
          <a:xfrm>
            <a:off x="685800" y="3108960"/>
            <a:ext cx="640080" cy="640080"/>
          </a:xfrm>
          <a:prstGeom prst="ellipse">
            <a:avLst/>
          </a:prstGeom>
          <a:solidFill>
            <a:srgbClr val="F59E0B"/>
          </a:solidFill>
          <a:ln w="12700">
            <a:solidFill>
              <a:srgbClr val="F59E0B"/>
            </a:solidFill>
            <a:prstDash val="solid"/>
          </a:ln>
        </p:spPr>
      </p:sp>
      <p:pic>
        <p:nvPicPr>
          <p:cNvPr id="15" name="Problem icon 3" descr="Problem icon 3">    </p:cNvPr>
          <p:cNvPicPr>
            <a:picLocks noChangeAspect="1"/>
          </p:cNvPicPr>
          <p:nvPr/>
        </p:nvPicPr>
        <p:blipFill>
          <a:blip r:embed="rId3"/>
          <a:stretch>
            <a:fillRect/>
          </a:stretch>
        </p:blipFill>
        <p:spPr>
          <a:xfrm>
            <a:off x="841248" y="3264408"/>
            <a:ext cx="329184" cy="329184"/>
          </a:xfrm>
          <a:prstGeom prst="rect">
            <a:avLst/>
          </a:prstGeom>
        </p:spPr>
      </p:pic>
      <p:sp>
        <p:nvSpPr>
          <p:cNvPr id="16" name="Problem title 3"/>
          <p:cNvSpPr txBox="1"/>
          <p:nvPr/>
        </p:nvSpPr>
        <p:spPr>
          <a:xfrm>
            <a:off x="1508760" y="3035808"/>
            <a:ext cx="2834640" cy="3657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Fake looks real</a:t>
            </a:r>
            <a:endParaRPr lang="en-US" sz="1800" dirty="0"/>
          </a:p>
        </p:txBody>
      </p:sp>
      <p:sp>
        <p:nvSpPr>
          <p:cNvPr id="17" name="Problem text 3"/>
          <p:cNvSpPr txBox="1"/>
          <p:nvPr/>
        </p:nvSpPr>
        <p:spPr>
          <a:xfrm>
            <a:off x="1508760" y="3429000"/>
            <a:ext cx="2834640" cy="68580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A photo of a lab report looks the same as a doctor-verified record.</a:t>
            </a:r>
            <a:endParaRPr lang="en-US" sz="1400" dirty="0"/>
          </a:p>
        </p:txBody>
      </p:sp>
      <p:sp>
        <p:nvSpPr>
          <p:cNvPr id="18" name="Problem card 4"/>
          <p:cNvSpPr/>
          <p:nvPr/>
        </p:nvSpPr>
        <p:spPr>
          <a:xfrm>
            <a:off x="4663440" y="2834640"/>
            <a:ext cx="4023360" cy="1417320"/>
          </a:xfrm>
          <a:prstGeom prst="roundRect">
            <a:avLst>
              <a:gd name="adj" fmla="val 7742"/>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19" name="Problem icon bg 4"/>
          <p:cNvSpPr/>
          <p:nvPr/>
        </p:nvSpPr>
        <p:spPr>
          <a:xfrm>
            <a:off x="4892040" y="3108960"/>
            <a:ext cx="640080" cy="640080"/>
          </a:xfrm>
          <a:prstGeom prst="ellipse">
            <a:avLst/>
          </a:prstGeom>
          <a:solidFill>
            <a:srgbClr val="F43F5E"/>
          </a:solidFill>
          <a:ln w="12700">
            <a:solidFill>
              <a:srgbClr val="F43F5E"/>
            </a:solidFill>
            <a:prstDash val="solid"/>
          </a:ln>
        </p:spPr>
      </p:sp>
      <p:pic>
        <p:nvPicPr>
          <p:cNvPr id="20" name="Problem icon 4" descr="Problem icon 4">    </p:cNvPr>
          <p:cNvPicPr>
            <a:picLocks noChangeAspect="1"/>
          </p:cNvPicPr>
          <p:nvPr/>
        </p:nvPicPr>
        <p:blipFill>
          <a:blip r:embed="rId4"/>
          <a:stretch>
            <a:fillRect/>
          </a:stretch>
        </p:blipFill>
        <p:spPr>
          <a:xfrm>
            <a:off x="5047488" y="3264408"/>
            <a:ext cx="329184" cy="329184"/>
          </a:xfrm>
          <a:prstGeom prst="rect">
            <a:avLst/>
          </a:prstGeom>
        </p:spPr>
      </p:pic>
      <p:sp>
        <p:nvSpPr>
          <p:cNvPr id="21" name="Problem title 4"/>
          <p:cNvSpPr txBox="1"/>
          <p:nvPr/>
        </p:nvSpPr>
        <p:spPr>
          <a:xfrm>
            <a:off x="5715000" y="3035808"/>
            <a:ext cx="2834640" cy="3657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Emergencies</a:t>
            </a:r>
            <a:endParaRPr lang="en-US" sz="1800" dirty="0"/>
          </a:p>
        </p:txBody>
      </p:sp>
      <p:sp>
        <p:nvSpPr>
          <p:cNvPr id="22" name="Problem text 4"/>
          <p:cNvSpPr txBox="1"/>
          <p:nvPr/>
        </p:nvSpPr>
        <p:spPr>
          <a:xfrm>
            <a:off x="5715000" y="3429000"/>
            <a:ext cx="2834640" cy="68580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An unconscious patient cannot approve anything, yet staff need critical facts.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The patient approves every share</a:t>
            </a:r>
            <a:endParaRPr lang="en-US" sz="3400" dirty="0"/>
          </a:p>
        </p:txBody>
      </p:sp>
      <p:sp>
        <p:nvSpPr>
          <p:cNvPr id="3" name="Step card 1"/>
          <p:cNvSpPr/>
          <p:nvPr/>
        </p:nvSpPr>
        <p:spPr>
          <a:xfrm>
            <a:off x="457200" y="1325880"/>
            <a:ext cx="1517904" cy="2331720"/>
          </a:xfrm>
          <a:prstGeom prst="roundRect">
            <a:avLst>
              <a:gd name="adj" fmla="val 7229"/>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4" name="Step icon bg 1"/>
          <p:cNvSpPr/>
          <p:nvPr/>
        </p:nvSpPr>
        <p:spPr>
          <a:xfrm>
            <a:off x="850392" y="1508760"/>
            <a:ext cx="731520" cy="731520"/>
          </a:xfrm>
          <a:prstGeom prst="ellipse">
            <a:avLst/>
          </a:prstGeom>
          <a:solidFill>
            <a:srgbClr val="10B981"/>
          </a:solidFill>
          <a:ln w="12700">
            <a:solidFill>
              <a:srgbClr val="10B981"/>
            </a:solidFill>
            <a:prstDash val="solid"/>
          </a:ln>
        </p:spPr>
      </p:sp>
      <p:pic>
        <p:nvPicPr>
          <p:cNvPr id="5" name="Step icon 1" descr="Step icon 1">    </p:cNvPr>
          <p:cNvPicPr>
            <a:picLocks noChangeAspect="1"/>
          </p:cNvPicPr>
          <p:nvPr/>
        </p:nvPicPr>
        <p:blipFill>
          <a:blip r:embed="rId1"/>
          <a:stretch>
            <a:fillRect/>
          </a:stretch>
        </p:blipFill>
        <p:spPr>
          <a:xfrm>
            <a:off x="1033272" y="1691640"/>
            <a:ext cx="365760" cy="365760"/>
          </a:xfrm>
          <a:prstGeom prst="rect">
            <a:avLst/>
          </a:prstGeom>
        </p:spPr>
      </p:pic>
      <p:sp>
        <p:nvSpPr>
          <p:cNvPr id="6" name="Step title 1"/>
          <p:cNvSpPr txBox="1"/>
          <p:nvPr/>
        </p:nvSpPr>
        <p:spPr>
          <a:xfrm>
            <a:off x="548640" y="2377440"/>
            <a:ext cx="1335024" cy="32004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Show a QR</a:t>
            </a:r>
            <a:endParaRPr lang="en-US" sz="1500" dirty="0"/>
          </a:p>
        </p:txBody>
      </p:sp>
      <p:sp>
        <p:nvSpPr>
          <p:cNvPr id="7" name="Step text 1"/>
          <p:cNvSpPr txBox="1"/>
          <p:nvPr/>
        </p:nvSpPr>
        <p:spPr>
          <a:xfrm>
            <a:off x="548640" y="2724912"/>
            <a:ext cx="1335024" cy="82296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One-time code, no medical data inside</a:t>
            </a:r>
            <a:endParaRPr lang="en-US" sz="1200" dirty="0"/>
          </a:p>
        </p:txBody>
      </p:sp>
      <p:sp>
        <p:nvSpPr>
          <p:cNvPr id="8" name="Step card 2"/>
          <p:cNvSpPr/>
          <p:nvPr/>
        </p:nvSpPr>
        <p:spPr>
          <a:xfrm>
            <a:off x="2121408" y="1325880"/>
            <a:ext cx="1517904" cy="2331720"/>
          </a:xfrm>
          <a:prstGeom prst="roundRect">
            <a:avLst>
              <a:gd name="adj" fmla="val 7229"/>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9" name="Step icon bg 2"/>
          <p:cNvSpPr/>
          <p:nvPr/>
        </p:nvSpPr>
        <p:spPr>
          <a:xfrm>
            <a:off x="2514600" y="1508760"/>
            <a:ext cx="731520" cy="731520"/>
          </a:xfrm>
          <a:prstGeom prst="ellipse">
            <a:avLst/>
          </a:prstGeom>
          <a:solidFill>
            <a:srgbClr val="10B981"/>
          </a:solidFill>
          <a:ln w="12700">
            <a:solidFill>
              <a:srgbClr val="10B981"/>
            </a:solidFill>
            <a:prstDash val="solid"/>
          </a:ln>
        </p:spPr>
      </p:sp>
      <p:pic>
        <p:nvPicPr>
          <p:cNvPr id="10" name="Step icon 2" descr="Step icon 2">    </p:cNvPr>
          <p:cNvPicPr>
            <a:picLocks noChangeAspect="1"/>
          </p:cNvPicPr>
          <p:nvPr/>
        </p:nvPicPr>
        <p:blipFill>
          <a:blip r:embed="rId2"/>
          <a:stretch>
            <a:fillRect/>
          </a:stretch>
        </p:blipFill>
        <p:spPr>
          <a:xfrm>
            <a:off x="2697480" y="1691640"/>
            <a:ext cx="365760" cy="365760"/>
          </a:xfrm>
          <a:prstGeom prst="rect">
            <a:avLst/>
          </a:prstGeom>
        </p:spPr>
      </p:pic>
      <p:sp>
        <p:nvSpPr>
          <p:cNvPr id="11" name="Step title 2"/>
          <p:cNvSpPr txBox="1"/>
          <p:nvPr/>
        </p:nvSpPr>
        <p:spPr>
          <a:xfrm>
            <a:off x="2212848" y="2377440"/>
            <a:ext cx="1335024" cy="32004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Hospital scans</a:t>
            </a:r>
            <a:endParaRPr lang="en-US" sz="1500" dirty="0"/>
          </a:p>
        </p:txBody>
      </p:sp>
      <p:sp>
        <p:nvSpPr>
          <p:cNvPr id="12" name="Step text 2"/>
          <p:cNvSpPr txBox="1"/>
          <p:nvPr/>
        </p:nvSpPr>
        <p:spPr>
          <a:xfrm>
            <a:off x="2212848" y="2724912"/>
            <a:ext cx="1335024" cy="82296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It sees name and age only</a:t>
            </a:r>
            <a:endParaRPr lang="en-US" sz="1200" dirty="0"/>
          </a:p>
        </p:txBody>
      </p:sp>
      <p:sp>
        <p:nvSpPr>
          <p:cNvPr id="13" name="Step card 3"/>
          <p:cNvSpPr/>
          <p:nvPr/>
        </p:nvSpPr>
        <p:spPr>
          <a:xfrm>
            <a:off x="3785616" y="1325880"/>
            <a:ext cx="1517904" cy="2331720"/>
          </a:xfrm>
          <a:prstGeom prst="roundRect">
            <a:avLst>
              <a:gd name="adj" fmla="val 7229"/>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14" name="Step icon bg 3"/>
          <p:cNvSpPr/>
          <p:nvPr/>
        </p:nvSpPr>
        <p:spPr>
          <a:xfrm>
            <a:off x="4178808" y="1508760"/>
            <a:ext cx="731520" cy="731520"/>
          </a:xfrm>
          <a:prstGeom prst="ellipse">
            <a:avLst/>
          </a:prstGeom>
          <a:solidFill>
            <a:srgbClr val="10B981"/>
          </a:solidFill>
          <a:ln w="12700">
            <a:solidFill>
              <a:srgbClr val="10B981"/>
            </a:solidFill>
            <a:prstDash val="solid"/>
          </a:ln>
        </p:spPr>
      </p:sp>
      <p:pic>
        <p:nvPicPr>
          <p:cNvPr id="15" name="Step icon 3" descr="Step icon 3">    </p:cNvPr>
          <p:cNvPicPr>
            <a:picLocks noChangeAspect="1"/>
          </p:cNvPicPr>
          <p:nvPr/>
        </p:nvPicPr>
        <p:blipFill>
          <a:blip r:embed="rId3"/>
          <a:stretch>
            <a:fillRect/>
          </a:stretch>
        </p:blipFill>
        <p:spPr>
          <a:xfrm>
            <a:off x="4361688" y="1691640"/>
            <a:ext cx="365760" cy="365760"/>
          </a:xfrm>
          <a:prstGeom prst="rect">
            <a:avLst/>
          </a:prstGeom>
        </p:spPr>
      </p:pic>
      <p:sp>
        <p:nvSpPr>
          <p:cNvPr id="16" name="Step title 3"/>
          <p:cNvSpPr txBox="1"/>
          <p:nvPr/>
        </p:nvSpPr>
        <p:spPr>
          <a:xfrm>
            <a:off x="3877056" y="2377440"/>
            <a:ext cx="1335024" cy="32004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Hospital asks</a:t>
            </a:r>
            <a:endParaRPr lang="en-US" sz="1500" dirty="0"/>
          </a:p>
        </p:txBody>
      </p:sp>
      <p:sp>
        <p:nvSpPr>
          <p:cNvPr id="17" name="Step text 3"/>
          <p:cNvSpPr txBox="1"/>
          <p:nvPr/>
        </p:nvSpPr>
        <p:spPr>
          <a:xfrm>
            <a:off x="3877056" y="2724912"/>
            <a:ext cx="1335024" cy="82296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Specific records, from a named hospital</a:t>
            </a:r>
            <a:endParaRPr lang="en-US" sz="1200" dirty="0"/>
          </a:p>
        </p:txBody>
      </p:sp>
      <p:sp>
        <p:nvSpPr>
          <p:cNvPr id="18" name="Step card 4"/>
          <p:cNvSpPr/>
          <p:nvPr/>
        </p:nvSpPr>
        <p:spPr>
          <a:xfrm>
            <a:off x="5449824" y="1325880"/>
            <a:ext cx="1517904" cy="2331720"/>
          </a:xfrm>
          <a:prstGeom prst="roundRect">
            <a:avLst>
              <a:gd name="adj" fmla="val 7229"/>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19" name="Step icon bg 4"/>
          <p:cNvSpPr/>
          <p:nvPr/>
        </p:nvSpPr>
        <p:spPr>
          <a:xfrm>
            <a:off x="5843016" y="1508760"/>
            <a:ext cx="731520" cy="731520"/>
          </a:xfrm>
          <a:prstGeom prst="ellipse">
            <a:avLst/>
          </a:prstGeom>
          <a:solidFill>
            <a:srgbClr val="10B981"/>
          </a:solidFill>
          <a:ln w="12700">
            <a:solidFill>
              <a:srgbClr val="10B981"/>
            </a:solidFill>
            <a:prstDash val="solid"/>
          </a:ln>
        </p:spPr>
      </p:sp>
      <p:pic>
        <p:nvPicPr>
          <p:cNvPr id="20" name="Step icon 4" descr="Step icon 4">    </p:cNvPr>
          <p:cNvPicPr>
            <a:picLocks noChangeAspect="1"/>
          </p:cNvPicPr>
          <p:nvPr/>
        </p:nvPicPr>
        <p:blipFill>
          <a:blip r:embed="rId4"/>
          <a:stretch>
            <a:fillRect/>
          </a:stretch>
        </p:blipFill>
        <p:spPr>
          <a:xfrm>
            <a:off x="6025896" y="1691640"/>
            <a:ext cx="365760" cy="365760"/>
          </a:xfrm>
          <a:prstGeom prst="rect">
            <a:avLst/>
          </a:prstGeom>
        </p:spPr>
      </p:pic>
      <p:sp>
        <p:nvSpPr>
          <p:cNvPr id="21" name="Step title 4"/>
          <p:cNvSpPr txBox="1"/>
          <p:nvPr/>
        </p:nvSpPr>
        <p:spPr>
          <a:xfrm>
            <a:off x="5541264" y="2377440"/>
            <a:ext cx="1335024" cy="32004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Patient decides</a:t>
            </a:r>
            <a:endParaRPr lang="en-US" sz="1500" dirty="0"/>
          </a:p>
        </p:txBody>
      </p:sp>
      <p:sp>
        <p:nvSpPr>
          <p:cNvPr id="22" name="Step text 4"/>
          <p:cNvSpPr txBox="1"/>
          <p:nvPr/>
        </p:nvSpPr>
        <p:spPr>
          <a:xfrm>
            <a:off x="5541264" y="2724912"/>
            <a:ext cx="1335024" cy="82296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Approve, narrow or deny, with a time limit</a:t>
            </a:r>
            <a:endParaRPr lang="en-US" sz="1200" dirty="0"/>
          </a:p>
        </p:txBody>
      </p:sp>
      <p:sp>
        <p:nvSpPr>
          <p:cNvPr id="23" name="Step card 5"/>
          <p:cNvSpPr/>
          <p:nvPr/>
        </p:nvSpPr>
        <p:spPr>
          <a:xfrm>
            <a:off x="7114032" y="1325880"/>
            <a:ext cx="1517904" cy="2331720"/>
          </a:xfrm>
          <a:prstGeom prst="roundRect">
            <a:avLst>
              <a:gd name="adj" fmla="val 7229"/>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24" name="Step icon bg 5"/>
          <p:cNvSpPr/>
          <p:nvPr/>
        </p:nvSpPr>
        <p:spPr>
          <a:xfrm>
            <a:off x="7507224" y="1508760"/>
            <a:ext cx="731520" cy="731520"/>
          </a:xfrm>
          <a:prstGeom prst="ellipse">
            <a:avLst/>
          </a:prstGeom>
          <a:solidFill>
            <a:srgbClr val="10B981"/>
          </a:solidFill>
          <a:ln w="12700">
            <a:solidFill>
              <a:srgbClr val="10B981"/>
            </a:solidFill>
            <a:prstDash val="solid"/>
          </a:ln>
        </p:spPr>
      </p:sp>
      <p:pic>
        <p:nvPicPr>
          <p:cNvPr id="25" name="Step icon 5" descr="Step icon 5">    </p:cNvPr>
          <p:cNvPicPr>
            <a:picLocks noChangeAspect="1"/>
          </p:cNvPicPr>
          <p:nvPr/>
        </p:nvPicPr>
        <p:blipFill>
          <a:blip r:embed="rId5"/>
          <a:stretch>
            <a:fillRect/>
          </a:stretch>
        </p:blipFill>
        <p:spPr>
          <a:xfrm>
            <a:off x="7690104" y="1691640"/>
            <a:ext cx="365760" cy="365760"/>
          </a:xfrm>
          <a:prstGeom prst="rect">
            <a:avLst/>
          </a:prstGeom>
        </p:spPr>
      </p:pic>
      <p:sp>
        <p:nvSpPr>
          <p:cNvPr id="26" name="Step title 5"/>
          <p:cNvSpPr txBox="1"/>
          <p:nvPr/>
        </p:nvSpPr>
        <p:spPr>
          <a:xfrm>
            <a:off x="7205472" y="2377440"/>
            <a:ext cx="1335024" cy="32004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Approved only</a:t>
            </a:r>
            <a:endParaRPr lang="en-US" sz="1500" dirty="0"/>
          </a:p>
        </p:txBody>
      </p:sp>
      <p:sp>
        <p:nvSpPr>
          <p:cNvPr id="27" name="Step text 5"/>
          <p:cNvSpPr txBox="1"/>
          <p:nvPr/>
        </p:nvSpPr>
        <p:spPr>
          <a:xfrm>
            <a:off x="7205472" y="2724912"/>
            <a:ext cx="1335024" cy="82296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Everything else stays hidden</a:t>
            </a:r>
            <a:endParaRPr lang="en-US" sz="1200" dirty="0"/>
          </a:p>
        </p:txBody>
      </p:sp>
      <p:sp>
        <p:nvSpPr>
          <p:cNvPr id="28" name="Promise bar"/>
          <p:cNvSpPr/>
          <p:nvPr/>
        </p:nvSpPr>
        <p:spPr>
          <a:xfrm>
            <a:off x="457200" y="3931920"/>
            <a:ext cx="8229600" cy="548640"/>
          </a:xfrm>
          <a:prstGeom prst="roundRect">
            <a:avLst>
              <a:gd name="adj" fmla="val 16667"/>
            </a:avLst>
          </a:prstGeom>
          <a:solidFill>
            <a:srgbClr val="0D1526"/>
          </a:solidFill>
          <a:ln w="12700">
            <a:solidFill>
              <a:srgbClr val="0D1526"/>
            </a:solidFill>
            <a:prstDash val="solid"/>
          </a:ln>
        </p:spPr>
      </p:sp>
      <p:sp>
        <p:nvSpPr>
          <p:cNvPr id="29" name="Promise text"/>
          <p:cNvSpPr txBox="1"/>
          <p:nvPr/>
        </p:nvSpPr>
        <p:spPr>
          <a:xfrm>
            <a:off x="640080" y="3931920"/>
            <a:ext cx="78638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Revoke any time, even a single doctor. Every access is logged.</a:t>
            </a: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Doctor-signed records stand apart from uploads</a:t>
            </a:r>
            <a:endParaRPr lang="en-US" sz="3400" dirty="0"/>
          </a:p>
        </p:txBody>
      </p:sp>
      <p:sp>
        <p:nvSpPr>
          <p:cNvPr id="3" name="Point card 1"/>
          <p:cNvSpPr/>
          <p:nvPr/>
        </p:nvSpPr>
        <p:spPr>
          <a:xfrm>
            <a:off x="457200" y="1280160"/>
            <a:ext cx="3977640" cy="960120"/>
          </a:xfrm>
          <a:prstGeom prst="roundRect">
            <a:avLst>
              <a:gd name="adj" fmla="val 11429"/>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4" name="Point marker 1"/>
          <p:cNvSpPr/>
          <p:nvPr/>
        </p:nvSpPr>
        <p:spPr>
          <a:xfrm>
            <a:off x="658368" y="1581912"/>
            <a:ext cx="365760" cy="365760"/>
          </a:xfrm>
          <a:prstGeom prst="ellipse">
            <a:avLst/>
          </a:prstGeom>
          <a:solidFill>
            <a:srgbClr val="10B981"/>
          </a:solidFill>
          <a:ln w="12700">
            <a:solidFill>
              <a:srgbClr val="10B981"/>
            </a:solidFill>
            <a:prstDash val="solid"/>
          </a:ln>
        </p:spPr>
      </p:sp>
      <p:sp>
        <p:nvSpPr>
          <p:cNvPr id="5" name="Point title 1"/>
          <p:cNvSpPr txBox="1"/>
          <p:nvPr/>
        </p:nvSpPr>
        <p:spPr>
          <a:xfrm>
            <a:off x="1188720" y="1389888"/>
            <a:ext cx="3108960" cy="292608"/>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Verified</a:t>
            </a:r>
            <a:endParaRPr lang="en-US" sz="1700" dirty="0"/>
          </a:p>
        </p:txBody>
      </p:sp>
      <p:sp>
        <p:nvSpPr>
          <p:cNvPr id="6" name="Point text 1"/>
          <p:cNvSpPr txBox="1"/>
          <p:nvPr/>
        </p:nvSpPr>
        <p:spPr>
          <a:xfrm>
            <a:off x="1188720" y="1691640"/>
            <a:ext cx="3108960" cy="50292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A doctor reviewed and signed it. Source, author and date are shown.</a:t>
            </a:r>
            <a:endParaRPr lang="en-US" sz="1200" dirty="0"/>
          </a:p>
        </p:txBody>
      </p:sp>
      <p:sp>
        <p:nvSpPr>
          <p:cNvPr id="7" name="Point card 2"/>
          <p:cNvSpPr/>
          <p:nvPr/>
        </p:nvSpPr>
        <p:spPr>
          <a:xfrm>
            <a:off x="457200" y="2377440"/>
            <a:ext cx="3977640" cy="960120"/>
          </a:xfrm>
          <a:prstGeom prst="roundRect">
            <a:avLst>
              <a:gd name="adj" fmla="val 11429"/>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8" name="Point marker 2"/>
          <p:cNvSpPr/>
          <p:nvPr/>
        </p:nvSpPr>
        <p:spPr>
          <a:xfrm>
            <a:off x="658368" y="2679192"/>
            <a:ext cx="365760" cy="365760"/>
          </a:xfrm>
          <a:prstGeom prst="ellipse">
            <a:avLst/>
          </a:prstGeom>
          <a:solidFill>
            <a:srgbClr val="F59E0B"/>
          </a:solidFill>
          <a:ln w="12700">
            <a:solidFill>
              <a:srgbClr val="F59E0B"/>
            </a:solidFill>
            <a:prstDash val="solid"/>
          </a:ln>
        </p:spPr>
      </p:sp>
      <p:sp>
        <p:nvSpPr>
          <p:cNvPr id="9" name="Point title 2"/>
          <p:cNvSpPr txBox="1"/>
          <p:nvPr/>
        </p:nvSpPr>
        <p:spPr>
          <a:xfrm>
            <a:off x="1188720" y="2487168"/>
            <a:ext cx="3108960" cy="292608"/>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Unverified</a:t>
            </a:r>
            <a:endParaRPr lang="en-US" sz="1700" dirty="0"/>
          </a:p>
        </p:txBody>
      </p:sp>
      <p:sp>
        <p:nvSpPr>
          <p:cNvPr id="10" name="Point text 2"/>
          <p:cNvSpPr txBox="1"/>
          <p:nvPr/>
        </p:nvSpPr>
        <p:spPr>
          <a:xfrm>
            <a:off x="1188720" y="2788920"/>
            <a:ext cx="3108960" cy="50292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Uploaded or added, not yet signed. Never mixed into verified history.</a:t>
            </a:r>
            <a:endParaRPr lang="en-US" sz="1200" dirty="0"/>
          </a:p>
        </p:txBody>
      </p:sp>
      <p:sp>
        <p:nvSpPr>
          <p:cNvPr id="11" name="Point card 3"/>
          <p:cNvSpPr/>
          <p:nvPr/>
        </p:nvSpPr>
        <p:spPr>
          <a:xfrm>
            <a:off x="457200" y="3474720"/>
            <a:ext cx="3977640" cy="960120"/>
          </a:xfrm>
          <a:prstGeom prst="roundRect">
            <a:avLst>
              <a:gd name="adj" fmla="val 11429"/>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12" name="Point marker 3"/>
          <p:cNvSpPr/>
          <p:nvPr/>
        </p:nvSpPr>
        <p:spPr>
          <a:xfrm>
            <a:off x="658368" y="3776472"/>
            <a:ext cx="365760" cy="365760"/>
          </a:xfrm>
          <a:prstGeom prst="ellipse">
            <a:avLst/>
          </a:prstGeom>
          <a:solidFill>
            <a:srgbClr val="F43F5E"/>
          </a:solidFill>
          <a:ln w="12700">
            <a:solidFill>
              <a:srgbClr val="F43F5E"/>
            </a:solidFill>
            <a:prstDash val="solid"/>
          </a:ln>
        </p:spPr>
      </p:sp>
      <p:sp>
        <p:nvSpPr>
          <p:cNvPr id="13" name="Point title 3"/>
          <p:cNvSpPr txBox="1"/>
          <p:nvPr/>
        </p:nvSpPr>
        <p:spPr>
          <a:xfrm>
            <a:off x="1188720" y="3584448"/>
            <a:ext cx="3108960" cy="292608"/>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Tamper alarm</a:t>
            </a:r>
            <a:endParaRPr lang="en-US" sz="1700" dirty="0"/>
          </a:p>
        </p:txBody>
      </p:sp>
      <p:sp>
        <p:nvSpPr>
          <p:cNvPr id="14" name="Point text 3"/>
          <p:cNvSpPr txBox="1"/>
          <p:nvPr/>
        </p:nvSpPr>
        <p:spPr>
          <a:xfrm>
            <a:off x="1188720" y="3886200"/>
            <a:ext cx="3108960" cy="50292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Change a signed record and the signature check fails, so the app warns.</a:t>
            </a:r>
            <a:endParaRPr lang="en-US" sz="1200" dirty="0"/>
          </a:p>
        </p:txBody>
      </p:sp>
      <p:pic>
        <p:nvPicPr>
          <p:cNvPr id="15" name="Signed records screenshot" descr="Hospital portal showing records with Ed25519 signed badges">    </p:cNvPr>
          <p:cNvPicPr>
            <a:picLocks noChangeAspect="1"/>
          </p:cNvPicPr>
          <p:nvPr/>
        </p:nvPicPr>
        <p:blipFill>
          <a:blip r:embed="rId1"/>
          <a:stretch>
            <a:fillRect/>
          </a:stretch>
        </p:blipFill>
        <p:spPr>
          <a:xfrm>
            <a:off x="4709160" y="1280160"/>
            <a:ext cx="3977640" cy="2983230"/>
          </a:xfrm>
          <a:prstGeom prst="rect">
            <a:avLst/>
          </a:prstGeom>
        </p:spPr>
      </p:pic>
      <p:sp>
        <p:nvSpPr>
          <p:cNvPr id="16" name="Screenshot caption"/>
          <p:cNvSpPr txBox="1"/>
          <p:nvPr/>
        </p:nvSpPr>
        <p:spPr>
          <a:xfrm>
            <a:off x="4709160" y="4297680"/>
            <a:ext cx="3977640" cy="274320"/>
          </a:xfrm>
          <a:prstGeom prst="rect">
            <a:avLst/>
          </a:prstGeom>
          <a:noFill/>
          <a:ln/>
        </p:spPr>
        <p:txBody>
          <a:bodyPr wrap="square" lIns="0" tIns="0" rIns="0" bIns="0" rtlCol="0" anchor="ctr"/>
          <a:lstStyle/>
          <a:p>
            <a:pPr indent="0" marL="0">
              <a:buNone/>
            </a:pPr>
            <a:r>
              <a:rPr lang="en-US" sz="1100" dirty="0">
                <a:solidFill>
                  <a:schemeClr val="accent5"/>
                </a:solidFill>
                <a:latin typeface="Calibri" pitchFamily="34" charset="0"/>
                <a:ea typeface="Calibri" pitchFamily="34" charset="-122"/>
                <a:cs typeface="Calibri" pitchFamily="34" charset="-120"/>
              </a:rPr>
              <a:t>Records signed with Ed25519, shown to the hospital</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A doctor visit, start to finish</a:t>
            </a:r>
            <a:endParaRPr lang="en-US" sz="3400" dirty="0"/>
          </a:p>
        </p:txBody>
      </p:sp>
      <p:pic>
        <p:nvPicPr>
          <p:cNvPr id="3" name="Visit screenshot 1" descr="1  Reception assigns an available doctor">    </p:cNvPr>
          <p:cNvPicPr>
            <a:picLocks noChangeAspect="1"/>
          </p:cNvPicPr>
          <p:nvPr/>
        </p:nvPicPr>
        <p:blipFill>
          <a:blip r:embed="rId1"/>
          <a:stretch>
            <a:fillRect/>
          </a:stretch>
        </p:blipFill>
        <p:spPr>
          <a:xfrm>
            <a:off x="457200" y="1188720"/>
            <a:ext cx="4023360" cy="3017520"/>
          </a:xfrm>
          <a:prstGeom prst="rect">
            <a:avLst/>
          </a:prstGeom>
        </p:spPr>
      </p:pic>
      <p:sp>
        <p:nvSpPr>
          <p:cNvPr id="4" name="Visit caption 1"/>
          <p:cNvSpPr txBox="1"/>
          <p:nvPr/>
        </p:nvSpPr>
        <p:spPr>
          <a:xfrm>
            <a:off x="457200" y="4279392"/>
            <a:ext cx="4023360" cy="27432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1  Reception assigns an available doctor</a:t>
            </a:r>
            <a:endParaRPr lang="en-US" sz="1400" dirty="0"/>
          </a:p>
        </p:txBody>
      </p:sp>
      <p:pic>
        <p:nvPicPr>
          <p:cNvPr id="5" name="Visit screenshot 2" descr="2  Doctor scans the patient's QR on arrival">    </p:cNvPr>
          <p:cNvPicPr>
            <a:picLocks noChangeAspect="1"/>
          </p:cNvPicPr>
          <p:nvPr/>
        </p:nvPicPr>
        <p:blipFill>
          <a:blip r:embed="rId2"/>
          <a:stretch>
            <a:fillRect/>
          </a:stretch>
        </p:blipFill>
        <p:spPr>
          <a:xfrm>
            <a:off x="4663440" y="1188720"/>
            <a:ext cx="4023360" cy="3017520"/>
          </a:xfrm>
          <a:prstGeom prst="rect">
            <a:avLst/>
          </a:prstGeom>
        </p:spPr>
      </p:pic>
      <p:sp>
        <p:nvSpPr>
          <p:cNvPr id="6" name="Visit caption 2"/>
          <p:cNvSpPr txBox="1"/>
          <p:nvPr/>
        </p:nvSpPr>
        <p:spPr>
          <a:xfrm>
            <a:off x="4663440" y="4279392"/>
            <a:ext cx="4023360" cy="27432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2  Doctor scans the patient's QR on arrival</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Security is built in, not bolted on</a:t>
            </a:r>
            <a:endParaRPr lang="en-US" sz="3400" dirty="0"/>
          </a:p>
        </p:txBody>
      </p:sp>
      <p:sp>
        <p:nvSpPr>
          <p:cNvPr id="3" name="Security card 1"/>
          <p:cNvSpPr/>
          <p:nvPr/>
        </p:nvSpPr>
        <p:spPr>
          <a:xfrm>
            <a:off x="457200" y="1234440"/>
            <a:ext cx="2651760" cy="1554480"/>
          </a:xfrm>
          <a:prstGeom prst="roundRect">
            <a:avLst>
              <a:gd name="adj" fmla="val 7059"/>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4" name="Security icon bg 1"/>
          <p:cNvSpPr/>
          <p:nvPr/>
        </p:nvSpPr>
        <p:spPr>
          <a:xfrm>
            <a:off x="640080" y="1417320"/>
            <a:ext cx="502920" cy="502920"/>
          </a:xfrm>
          <a:prstGeom prst="ellipse">
            <a:avLst/>
          </a:prstGeom>
          <a:solidFill>
            <a:srgbClr val="10B981"/>
          </a:solidFill>
          <a:ln w="12700">
            <a:solidFill>
              <a:srgbClr val="10B981"/>
            </a:solidFill>
            <a:prstDash val="solid"/>
          </a:ln>
        </p:spPr>
      </p:sp>
      <p:pic>
        <p:nvPicPr>
          <p:cNvPr id="5" name="Security icon 1" descr="Security icon 1">    </p:cNvPr>
          <p:cNvPicPr>
            <a:picLocks noChangeAspect="1"/>
          </p:cNvPicPr>
          <p:nvPr/>
        </p:nvPicPr>
        <p:blipFill>
          <a:blip r:embed="rId1"/>
          <a:stretch>
            <a:fillRect/>
          </a:stretch>
        </p:blipFill>
        <p:spPr>
          <a:xfrm>
            <a:off x="749808" y="1527048"/>
            <a:ext cx="283464" cy="283464"/>
          </a:xfrm>
          <a:prstGeom prst="rect">
            <a:avLst/>
          </a:prstGeom>
        </p:spPr>
      </p:pic>
      <p:sp>
        <p:nvSpPr>
          <p:cNvPr id="6" name="Security title 1"/>
          <p:cNvSpPr txBox="1"/>
          <p:nvPr/>
        </p:nvSpPr>
        <p:spPr>
          <a:xfrm>
            <a:off x="640080" y="2011680"/>
            <a:ext cx="2286000" cy="29260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Consent on every read</a:t>
            </a:r>
            <a:endParaRPr lang="en-US" sz="1500" dirty="0"/>
          </a:p>
        </p:txBody>
      </p:sp>
      <p:sp>
        <p:nvSpPr>
          <p:cNvPr id="7" name="Security text 1"/>
          <p:cNvSpPr txBox="1"/>
          <p:nvPr/>
        </p:nvSpPr>
        <p:spPr>
          <a:xfrm>
            <a:off x="640080" y="2313432"/>
            <a:ext cx="2286000" cy="41148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Valid, unexpired, unrevoked, right category, right hospital.</a:t>
            </a:r>
            <a:endParaRPr lang="en-US" sz="1200" dirty="0"/>
          </a:p>
        </p:txBody>
      </p:sp>
      <p:sp>
        <p:nvSpPr>
          <p:cNvPr id="8" name="Security card 2"/>
          <p:cNvSpPr/>
          <p:nvPr/>
        </p:nvSpPr>
        <p:spPr>
          <a:xfrm>
            <a:off x="3246120" y="1234440"/>
            <a:ext cx="2651760" cy="1554480"/>
          </a:xfrm>
          <a:prstGeom prst="roundRect">
            <a:avLst>
              <a:gd name="adj" fmla="val 7059"/>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9" name="Security icon bg 2"/>
          <p:cNvSpPr/>
          <p:nvPr/>
        </p:nvSpPr>
        <p:spPr>
          <a:xfrm>
            <a:off x="3429000" y="1417320"/>
            <a:ext cx="502920" cy="502920"/>
          </a:xfrm>
          <a:prstGeom prst="ellipse">
            <a:avLst/>
          </a:prstGeom>
          <a:solidFill>
            <a:srgbClr val="4CD7F6"/>
          </a:solidFill>
          <a:ln w="12700">
            <a:solidFill>
              <a:srgbClr val="4CD7F6"/>
            </a:solidFill>
            <a:prstDash val="solid"/>
          </a:ln>
        </p:spPr>
      </p:sp>
      <p:pic>
        <p:nvPicPr>
          <p:cNvPr id="10" name="Security icon 2" descr="Security icon 2">    </p:cNvPr>
          <p:cNvPicPr>
            <a:picLocks noChangeAspect="1"/>
          </p:cNvPicPr>
          <p:nvPr/>
        </p:nvPicPr>
        <p:blipFill>
          <a:blip r:embed="rId2"/>
          <a:stretch>
            <a:fillRect/>
          </a:stretch>
        </p:blipFill>
        <p:spPr>
          <a:xfrm>
            <a:off x="3538728" y="1527048"/>
            <a:ext cx="283464" cy="283464"/>
          </a:xfrm>
          <a:prstGeom prst="rect">
            <a:avLst/>
          </a:prstGeom>
        </p:spPr>
      </p:pic>
      <p:sp>
        <p:nvSpPr>
          <p:cNvPr id="11" name="Security title 2"/>
          <p:cNvSpPr txBox="1"/>
          <p:nvPr/>
        </p:nvSpPr>
        <p:spPr>
          <a:xfrm>
            <a:off x="3429000" y="2011680"/>
            <a:ext cx="2286000" cy="29260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Doctor signatures</a:t>
            </a:r>
            <a:endParaRPr lang="en-US" sz="1500" dirty="0"/>
          </a:p>
        </p:txBody>
      </p:sp>
      <p:sp>
        <p:nvSpPr>
          <p:cNvPr id="12" name="Security text 2"/>
          <p:cNvSpPr txBox="1"/>
          <p:nvPr/>
        </p:nvSpPr>
        <p:spPr>
          <a:xfrm>
            <a:off x="3429000" y="2313432"/>
            <a:ext cx="2286000" cy="41148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Ed25519 over the record and its files.</a:t>
            </a:r>
            <a:endParaRPr lang="en-US" sz="1200" dirty="0"/>
          </a:p>
        </p:txBody>
      </p:sp>
      <p:sp>
        <p:nvSpPr>
          <p:cNvPr id="13" name="Security card 3"/>
          <p:cNvSpPr/>
          <p:nvPr/>
        </p:nvSpPr>
        <p:spPr>
          <a:xfrm>
            <a:off x="6035040" y="1234440"/>
            <a:ext cx="2651760" cy="1554480"/>
          </a:xfrm>
          <a:prstGeom prst="roundRect">
            <a:avLst>
              <a:gd name="adj" fmla="val 7059"/>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14" name="Security icon bg 3"/>
          <p:cNvSpPr/>
          <p:nvPr/>
        </p:nvSpPr>
        <p:spPr>
          <a:xfrm>
            <a:off x="6217920" y="1417320"/>
            <a:ext cx="502920" cy="502920"/>
          </a:xfrm>
          <a:prstGeom prst="ellipse">
            <a:avLst/>
          </a:prstGeom>
          <a:solidFill>
            <a:srgbClr val="F59E0B"/>
          </a:solidFill>
          <a:ln w="12700">
            <a:solidFill>
              <a:srgbClr val="F59E0B"/>
            </a:solidFill>
            <a:prstDash val="solid"/>
          </a:ln>
        </p:spPr>
      </p:sp>
      <p:pic>
        <p:nvPicPr>
          <p:cNvPr id="15" name="Security icon 3" descr="Security icon 3">    </p:cNvPr>
          <p:cNvPicPr>
            <a:picLocks noChangeAspect="1"/>
          </p:cNvPicPr>
          <p:nvPr/>
        </p:nvPicPr>
        <p:blipFill>
          <a:blip r:embed="rId3"/>
          <a:stretch>
            <a:fillRect/>
          </a:stretch>
        </p:blipFill>
        <p:spPr>
          <a:xfrm>
            <a:off x="6327648" y="1527048"/>
            <a:ext cx="283464" cy="283464"/>
          </a:xfrm>
          <a:prstGeom prst="rect">
            <a:avLst/>
          </a:prstGeom>
        </p:spPr>
      </p:pic>
      <p:sp>
        <p:nvSpPr>
          <p:cNvPr id="16" name="Security title 3"/>
          <p:cNvSpPr txBox="1"/>
          <p:nvPr/>
        </p:nvSpPr>
        <p:spPr>
          <a:xfrm>
            <a:off x="6217920" y="2011680"/>
            <a:ext cx="2286000" cy="29260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Signed means locked</a:t>
            </a:r>
            <a:endParaRPr lang="en-US" sz="1500" dirty="0"/>
          </a:p>
        </p:txBody>
      </p:sp>
      <p:sp>
        <p:nvSpPr>
          <p:cNvPr id="17" name="Security text 3"/>
          <p:cNvSpPr txBox="1"/>
          <p:nvPr/>
        </p:nvSpPr>
        <p:spPr>
          <a:xfrm>
            <a:off x="6217920" y="2313432"/>
            <a:ext cx="2286000" cy="41148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A database rule blocks edits and deletes.</a:t>
            </a:r>
            <a:endParaRPr lang="en-US" sz="1200" dirty="0"/>
          </a:p>
        </p:txBody>
      </p:sp>
      <p:sp>
        <p:nvSpPr>
          <p:cNvPr id="18" name="Security card 4"/>
          <p:cNvSpPr/>
          <p:nvPr/>
        </p:nvSpPr>
        <p:spPr>
          <a:xfrm>
            <a:off x="457200" y="2926080"/>
            <a:ext cx="2651760" cy="1554480"/>
          </a:xfrm>
          <a:prstGeom prst="roundRect">
            <a:avLst>
              <a:gd name="adj" fmla="val 7059"/>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19" name="Security icon bg 4"/>
          <p:cNvSpPr/>
          <p:nvPr/>
        </p:nvSpPr>
        <p:spPr>
          <a:xfrm>
            <a:off x="640080" y="3108960"/>
            <a:ext cx="502920" cy="502920"/>
          </a:xfrm>
          <a:prstGeom prst="ellipse">
            <a:avLst/>
          </a:prstGeom>
          <a:solidFill>
            <a:srgbClr val="10B981"/>
          </a:solidFill>
          <a:ln w="12700">
            <a:solidFill>
              <a:srgbClr val="10B981"/>
            </a:solidFill>
            <a:prstDash val="solid"/>
          </a:ln>
        </p:spPr>
      </p:sp>
      <p:pic>
        <p:nvPicPr>
          <p:cNvPr id="20" name="Security icon 4" descr="Security icon 4">    </p:cNvPr>
          <p:cNvPicPr>
            <a:picLocks noChangeAspect="1"/>
          </p:cNvPicPr>
          <p:nvPr/>
        </p:nvPicPr>
        <p:blipFill>
          <a:blip r:embed="rId4"/>
          <a:stretch>
            <a:fillRect/>
          </a:stretch>
        </p:blipFill>
        <p:spPr>
          <a:xfrm>
            <a:off x="749808" y="3218688"/>
            <a:ext cx="283464" cy="283464"/>
          </a:xfrm>
          <a:prstGeom prst="rect">
            <a:avLst/>
          </a:prstGeom>
        </p:spPr>
      </p:pic>
      <p:sp>
        <p:nvSpPr>
          <p:cNvPr id="21" name="Security title 4"/>
          <p:cNvSpPr txBox="1"/>
          <p:nvPr/>
        </p:nvSpPr>
        <p:spPr>
          <a:xfrm>
            <a:off x="640080" y="3703320"/>
            <a:ext cx="2286000" cy="29260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Audit log</a:t>
            </a:r>
            <a:endParaRPr lang="en-US" sz="1500" dirty="0"/>
          </a:p>
        </p:txBody>
      </p:sp>
      <p:sp>
        <p:nvSpPr>
          <p:cNvPr id="22" name="Security text 4"/>
          <p:cNvSpPr txBox="1"/>
          <p:nvPr/>
        </p:nvSpPr>
        <p:spPr>
          <a:xfrm>
            <a:off x="640080" y="4005072"/>
            <a:ext cx="2286000" cy="41148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Append-only, with scrambled patient references.</a:t>
            </a:r>
            <a:endParaRPr lang="en-US" sz="1200" dirty="0"/>
          </a:p>
        </p:txBody>
      </p:sp>
      <p:sp>
        <p:nvSpPr>
          <p:cNvPr id="23" name="Security card 5"/>
          <p:cNvSpPr/>
          <p:nvPr/>
        </p:nvSpPr>
        <p:spPr>
          <a:xfrm>
            <a:off x="3246120" y="2926080"/>
            <a:ext cx="2651760" cy="1554480"/>
          </a:xfrm>
          <a:prstGeom prst="roundRect">
            <a:avLst>
              <a:gd name="adj" fmla="val 7059"/>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24" name="Security icon bg 5"/>
          <p:cNvSpPr/>
          <p:nvPr/>
        </p:nvSpPr>
        <p:spPr>
          <a:xfrm>
            <a:off x="3429000" y="3108960"/>
            <a:ext cx="502920" cy="502920"/>
          </a:xfrm>
          <a:prstGeom prst="ellipse">
            <a:avLst/>
          </a:prstGeom>
          <a:solidFill>
            <a:srgbClr val="4CD7F6"/>
          </a:solidFill>
          <a:ln w="12700">
            <a:solidFill>
              <a:srgbClr val="4CD7F6"/>
            </a:solidFill>
            <a:prstDash val="solid"/>
          </a:ln>
        </p:spPr>
      </p:sp>
      <p:pic>
        <p:nvPicPr>
          <p:cNvPr id="25" name="Security icon 5" descr="Security icon 5">    </p:cNvPr>
          <p:cNvPicPr>
            <a:picLocks noChangeAspect="1"/>
          </p:cNvPicPr>
          <p:nvPr/>
        </p:nvPicPr>
        <p:blipFill>
          <a:blip r:embed="rId5"/>
          <a:stretch>
            <a:fillRect/>
          </a:stretch>
        </p:blipFill>
        <p:spPr>
          <a:xfrm>
            <a:off x="3538728" y="3218688"/>
            <a:ext cx="283464" cy="283464"/>
          </a:xfrm>
          <a:prstGeom prst="rect">
            <a:avLst/>
          </a:prstGeom>
        </p:spPr>
      </p:pic>
      <p:sp>
        <p:nvSpPr>
          <p:cNvPr id="26" name="Security title 5"/>
          <p:cNvSpPr txBox="1"/>
          <p:nvPr/>
        </p:nvSpPr>
        <p:spPr>
          <a:xfrm>
            <a:off x="3429000" y="3703320"/>
            <a:ext cx="2286000" cy="29260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Encrypted notes</a:t>
            </a:r>
            <a:endParaRPr lang="en-US" sz="1500" dirty="0"/>
          </a:p>
        </p:txBody>
      </p:sp>
      <p:sp>
        <p:nvSpPr>
          <p:cNvPr id="27" name="Security text 5"/>
          <p:cNvSpPr txBox="1"/>
          <p:nvPr/>
        </p:nvSpPr>
        <p:spPr>
          <a:xfrm>
            <a:off x="3429000" y="4005072"/>
            <a:ext cx="2286000" cy="41148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AES-256-GCM at rest, bcrypt passwords.</a:t>
            </a:r>
            <a:endParaRPr lang="en-US" sz="1200" dirty="0"/>
          </a:p>
        </p:txBody>
      </p:sp>
      <p:sp>
        <p:nvSpPr>
          <p:cNvPr id="28" name="Security card 6"/>
          <p:cNvSpPr/>
          <p:nvPr/>
        </p:nvSpPr>
        <p:spPr>
          <a:xfrm>
            <a:off x="6035040" y="2926080"/>
            <a:ext cx="2651760" cy="1554480"/>
          </a:xfrm>
          <a:prstGeom prst="roundRect">
            <a:avLst>
              <a:gd name="adj" fmla="val 7059"/>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29" name="Security icon bg 6"/>
          <p:cNvSpPr/>
          <p:nvPr/>
        </p:nvSpPr>
        <p:spPr>
          <a:xfrm>
            <a:off x="6217920" y="3108960"/>
            <a:ext cx="502920" cy="502920"/>
          </a:xfrm>
          <a:prstGeom prst="ellipse">
            <a:avLst/>
          </a:prstGeom>
          <a:solidFill>
            <a:srgbClr val="F43F5E"/>
          </a:solidFill>
          <a:ln w="12700">
            <a:solidFill>
              <a:srgbClr val="F43F5E"/>
            </a:solidFill>
            <a:prstDash val="solid"/>
          </a:ln>
        </p:spPr>
      </p:sp>
      <p:pic>
        <p:nvPicPr>
          <p:cNvPr id="30" name="Security icon 6" descr="Security icon 6">    </p:cNvPr>
          <p:cNvPicPr>
            <a:picLocks noChangeAspect="1"/>
          </p:cNvPicPr>
          <p:nvPr/>
        </p:nvPicPr>
        <p:blipFill>
          <a:blip r:embed="rId6"/>
          <a:stretch>
            <a:fillRect/>
          </a:stretch>
        </p:blipFill>
        <p:spPr>
          <a:xfrm>
            <a:off x="6327648" y="3218688"/>
            <a:ext cx="283464" cy="283464"/>
          </a:xfrm>
          <a:prstGeom prst="rect">
            <a:avLst/>
          </a:prstGeom>
        </p:spPr>
      </p:pic>
      <p:sp>
        <p:nvSpPr>
          <p:cNvPr id="31" name="Security title 6"/>
          <p:cNvSpPr txBox="1"/>
          <p:nvPr/>
        </p:nvSpPr>
        <p:spPr>
          <a:xfrm>
            <a:off x="6217920" y="3703320"/>
            <a:ext cx="2286000" cy="29260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Emergency, limited</a:t>
            </a:r>
            <a:endParaRPr lang="en-US" sz="1500" dirty="0"/>
          </a:p>
        </p:txBody>
      </p:sp>
      <p:sp>
        <p:nvSpPr>
          <p:cNvPr id="32" name="Security text 6"/>
          <p:cNvSpPr txBox="1"/>
          <p:nvPr/>
        </p:nvSpPr>
        <p:spPr>
          <a:xfrm>
            <a:off x="6217920" y="4005072"/>
            <a:ext cx="2286000" cy="41148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Critical facts only, one hour, patient notified.</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Tested, and honest about limits</a:t>
            </a:r>
            <a:endParaRPr lang="en-US" sz="3400" dirty="0"/>
          </a:p>
        </p:txBody>
      </p:sp>
      <p:sp>
        <p:nvSpPr>
          <p:cNvPr id="3" name="Stat card 1"/>
          <p:cNvSpPr/>
          <p:nvPr/>
        </p:nvSpPr>
        <p:spPr>
          <a:xfrm>
            <a:off x="457200" y="1280160"/>
            <a:ext cx="1280160" cy="1463040"/>
          </a:xfrm>
          <a:prstGeom prst="roundRect">
            <a:avLst>
              <a:gd name="adj" fmla="val 8571"/>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4" name="Stat number 1"/>
          <p:cNvSpPr txBox="1"/>
          <p:nvPr/>
        </p:nvSpPr>
        <p:spPr>
          <a:xfrm>
            <a:off x="457200" y="1417320"/>
            <a:ext cx="1280160" cy="640080"/>
          </a:xfrm>
          <a:prstGeom prst="rect">
            <a:avLst/>
          </a:prstGeom>
          <a:noFill/>
          <a:ln/>
        </p:spPr>
        <p:txBody>
          <a:bodyPr wrap="square" lIns="0" tIns="0" rIns="0" bIns="0" rtlCol="0" anchor="ctr"/>
          <a:lstStyle/>
          <a:p>
            <a:pPr algn="ctr" indent="0" marL="0">
              <a:buNone/>
            </a:pPr>
            <a:r>
              <a:rPr lang="en-US" sz="4000" b="1" dirty="0">
                <a:solidFill>
                  <a:schemeClr val="accent1"/>
                </a:solidFill>
                <a:latin typeface="Calibri" pitchFamily="34" charset="0"/>
                <a:ea typeface="Calibri" pitchFamily="34" charset="-122"/>
                <a:cs typeface="Calibri" pitchFamily="34" charset="-120"/>
              </a:rPr>
              <a:t>90</a:t>
            </a:r>
            <a:endParaRPr lang="en-US" sz="4000" dirty="0"/>
          </a:p>
        </p:txBody>
      </p:sp>
      <p:sp>
        <p:nvSpPr>
          <p:cNvPr id="5" name="Stat label 1"/>
          <p:cNvSpPr txBox="1"/>
          <p:nvPr/>
        </p:nvSpPr>
        <p:spPr>
          <a:xfrm>
            <a:off x="548640" y="2103120"/>
            <a:ext cx="1097280" cy="54864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automated checks pass</a:t>
            </a:r>
            <a:endParaRPr lang="en-US" sz="1200" dirty="0"/>
          </a:p>
        </p:txBody>
      </p:sp>
      <p:sp>
        <p:nvSpPr>
          <p:cNvPr id="6" name="Stat card 2"/>
          <p:cNvSpPr/>
          <p:nvPr/>
        </p:nvSpPr>
        <p:spPr>
          <a:xfrm>
            <a:off x="1828800" y="1280160"/>
            <a:ext cx="1280160" cy="1463040"/>
          </a:xfrm>
          <a:prstGeom prst="roundRect">
            <a:avLst>
              <a:gd name="adj" fmla="val 8571"/>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7" name="Stat number 2"/>
          <p:cNvSpPr txBox="1"/>
          <p:nvPr/>
        </p:nvSpPr>
        <p:spPr>
          <a:xfrm>
            <a:off x="1828800" y="1417320"/>
            <a:ext cx="1280160" cy="640080"/>
          </a:xfrm>
          <a:prstGeom prst="rect">
            <a:avLst/>
          </a:prstGeom>
          <a:noFill/>
          <a:ln/>
        </p:spPr>
        <p:txBody>
          <a:bodyPr wrap="square" lIns="0" tIns="0" rIns="0" bIns="0" rtlCol="0" anchor="ctr"/>
          <a:lstStyle/>
          <a:p>
            <a:pPr algn="ctr" indent="0" marL="0">
              <a:buNone/>
            </a:pPr>
            <a:r>
              <a:rPr lang="en-US" sz="4000" b="1" dirty="0">
                <a:solidFill>
                  <a:schemeClr val="accent1"/>
                </a:solidFill>
                <a:latin typeface="Calibri" pitchFamily="34" charset="0"/>
                <a:ea typeface="Calibri" pitchFamily="34" charset="-122"/>
                <a:cs typeface="Calibri" pitchFamily="34" charset="-120"/>
              </a:rPr>
              <a:t>0</a:t>
            </a:r>
            <a:endParaRPr lang="en-US" sz="4000" dirty="0"/>
          </a:p>
        </p:txBody>
      </p:sp>
      <p:sp>
        <p:nvSpPr>
          <p:cNvPr id="8" name="Stat label 2"/>
          <p:cNvSpPr txBox="1"/>
          <p:nvPr/>
        </p:nvSpPr>
        <p:spPr>
          <a:xfrm>
            <a:off x="1920240" y="2103120"/>
            <a:ext cx="1097280" cy="54864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real patient records used</a:t>
            </a:r>
            <a:endParaRPr lang="en-US" sz="1200" dirty="0"/>
          </a:p>
        </p:txBody>
      </p:sp>
      <p:sp>
        <p:nvSpPr>
          <p:cNvPr id="9" name="Stat card 3"/>
          <p:cNvSpPr/>
          <p:nvPr/>
        </p:nvSpPr>
        <p:spPr>
          <a:xfrm>
            <a:off x="3200400" y="1280160"/>
            <a:ext cx="1280160" cy="1463040"/>
          </a:xfrm>
          <a:prstGeom prst="roundRect">
            <a:avLst>
              <a:gd name="adj" fmla="val 8571"/>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10" name="Stat number 3"/>
          <p:cNvSpPr txBox="1"/>
          <p:nvPr/>
        </p:nvSpPr>
        <p:spPr>
          <a:xfrm>
            <a:off x="3200400" y="1417320"/>
            <a:ext cx="1280160" cy="640080"/>
          </a:xfrm>
          <a:prstGeom prst="rect">
            <a:avLst/>
          </a:prstGeom>
          <a:noFill/>
          <a:ln/>
        </p:spPr>
        <p:txBody>
          <a:bodyPr wrap="square" lIns="0" tIns="0" rIns="0" bIns="0" rtlCol="0" anchor="ctr"/>
          <a:lstStyle/>
          <a:p>
            <a:pPr algn="ctr" indent="0" marL="0">
              <a:buNone/>
            </a:pPr>
            <a:r>
              <a:rPr lang="en-US" sz="2800" b="1" dirty="0">
                <a:solidFill>
                  <a:schemeClr val="accent1"/>
                </a:solidFill>
                <a:latin typeface="Calibri" pitchFamily="34" charset="0"/>
                <a:ea typeface="Calibri" pitchFamily="34" charset="-122"/>
                <a:cs typeface="Calibri" pitchFamily="34" charset="-120"/>
              </a:rPr>
              <a:t>Fresh</a:t>
            </a:r>
            <a:endParaRPr lang="en-US" sz="2800" dirty="0"/>
          </a:p>
        </p:txBody>
      </p:sp>
      <p:sp>
        <p:nvSpPr>
          <p:cNvPr id="11" name="Stat label 3"/>
          <p:cNvSpPr txBox="1"/>
          <p:nvPr/>
        </p:nvSpPr>
        <p:spPr>
          <a:xfrm>
            <a:off x="3291840" y="2103120"/>
            <a:ext cx="1097280" cy="54864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clone verified from GitHub</a:t>
            </a:r>
            <a:endParaRPr lang="en-US" sz="1200" dirty="0"/>
          </a:p>
        </p:txBody>
      </p:sp>
      <p:sp>
        <p:nvSpPr>
          <p:cNvPr id="12" name="Evidence card"/>
          <p:cNvSpPr/>
          <p:nvPr/>
        </p:nvSpPr>
        <p:spPr>
          <a:xfrm>
            <a:off x="457200" y="2926080"/>
            <a:ext cx="4023360" cy="1600200"/>
          </a:xfrm>
          <a:prstGeom prst="roundRect">
            <a:avLst>
              <a:gd name="adj" fmla="val 6857"/>
            </a:avLst>
          </a:prstGeom>
          <a:solidFill>
            <a:schemeClr val="bg1"/>
          </a:solidFill>
          <a:ln w="9525">
            <a:solidFill>
              <a:srgbClr val="D5E3E0"/>
            </a:solidFill>
            <a:prstDash val="solid"/>
          </a:ln>
          <a:effectLst>
            <a:outerShdw sx="100000" sy="100000" kx="0" ky="0" algn="bl" rotWithShape="0" blurRad="101600" dist="25400" dir="5400000">
              <a:srgbClr val="0B1220">
                <a:alpha val="12000"/>
              </a:srgbClr>
            </a:outerShdw>
          </a:effectLst>
        </p:spPr>
      </p:sp>
      <p:sp>
        <p:nvSpPr>
          <p:cNvPr id="13" name="Evidence list"/>
          <p:cNvSpPr txBox="1"/>
          <p:nvPr/>
        </p:nvSpPr>
        <p:spPr>
          <a:xfrm>
            <a:off x="685800" y="3063240"/>
            <a:ext cx="3611880" cy="1325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Threat model and test cases are in the repo</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End-to-end test covers consent, signing, revoke, visits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Synthetic data only, local environment</a:t>
            </a:r>
            <a:endParaRPr lang="en-US" sz="1400" dirty="0"/>
          </a:p>
        </p:txBody>
      </p:sp>
      <p:sp>
        <p:nvSpPr>
          <p:cNvPr id="14" name="Limits panel"/>
          <p:cNvSpPr/>
          <p:nvPr/>
        </p:nvSpPr>
        <p:spPr>
          <a:xfrm>
            <a:off x="4709160" y="1280160"/>
            <a:ext cx="3977640" cy="3246120"/>
          </a:xfrm>
          <a:prstGeom prst="roundRect">
            <a:avLst>
              <a:gd name="adj" fmla="val 3380"/>
            </a:avLst>
          </a:prstGeom>
          <a:solidFill>
            <a:srgbClr val="0D1526"/>
          </a:solidFill>
          <a:ln w="12700">
            <a:solidFill>
              <a:srgbClr val="0D1526"/>
            </a:solidFill>
            <a:prstDash val="solid"/>
          </a:ln>
        </p:spPr>
      </p:sp>
      <p:sp>
        <p:nvSpPr>
          <p:cNvPr id="15" name="Limits title"/>
          <p:cNvSpPr txBox="1"/>
          <p:nvPr/>
        </p:nvSpPr>
        <p:spPr>
          <a:xfrm>
            <a:off x="4937760" y="1463040"/>
            <a:ext cx="3520440" cy="36576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What production still needs</a:t>
            </a:r>
            <a:endParaRPr lang="en-US" sz="1800" dirty="0"/>
          </a:p>
        </p:txBody>
      </p:sp>
      <p:sp>
        <p:nvSpPr>
          <p:cNvPr id="16" name="Limits list"/>
          <p:cNvSpPr txBox="1"/>
          <p:nvPr/>
        </p:nvSpPr>
        <p:spPr>
          <a:xfrm>
            <a:off x="4937760" y="1965960"/>
            <a:ext cx="352044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accent6"/>
                </a:solidFill>
                <a:latin typeface="Calibri" pitchFamily="34" charset="0"/>
                <a:ea typeface="Calibri" pitchFamily="34" charset="-122"/>
                <a:cs typeface="Calibri" pitchFamily="34" charset="-120"/>
              </a:rPr>
              <a:t>Doctor keys in an HSM, not the database</a:t>
            </a:r>
            <a:endParaRPr lang="en-US" sz="1400" dirty="0"/>
          </a:p>
          <a:p>
            <a:pPr marL="342900" indent="-342900">
              <a:spcAft>
                <a:spcPts val="800"/>
              </a:spcAft>
              <a:buSzPct val="100000"/>
              <a:buChar char="•"/>
            </a:pPr>
            <a:r>
              <a:rPr lang="en-US" sz="1400" dirty="0">
                <a:solidFill>
                  <a:schemeClr val="accent6"/>
                </a:solidFill>
                <a:latin typeface="Calibri" pitchFamily="34" charset="0"/>
                <a:ea typeface="Calibri" pitchFamily="34" charset="-122"/>
                <a:cs typeface="Calibri" pitchFamily="34" charset="-120"/>
              </a:rPr>
              <a:t>Password reset by email code, not birth date</a:t>
            </a:r>
            <a:endParaRPr lang="en-US" sz="1400" dirty="0"/>
          </a:p>
          <a:p>
            <a:pPr marL="342900" indent="-342900">
              <a:spcAft>
                <a:spcPts val="800"/>
              </a:spcAft>
              <a:buSzPct val="100000"/>
              <a:buChar char="•"/>
            </a:pPr>
            <a:r>
              <a:rPr lang="en-US" sz="1400" dirty="0">
                <a:solidFill>
                  <a:schemeClr val="accent6"/>
                </a:solidFill>
                <a:latin typeface="Calibri" pitchFamily="34" charset="0"/>
                <a:ea typeface="Calibri" pitchFamily="34" charset="-122"/>
                <a:cs typeface="Calibri" pitchFamily="34" charset="-120"/>
              </a:rPr>
              <a:t>NFC cards and verified hospital onboarding</a:t>
            </a:r>
            <a:endParaRPr lang="en-US" sz="1400" dirty="0"/>
          </a:p>
          <a:p>
            <a:pPr marL="342900" indent="-342900">
              <a:spcAft>
                <a:spcPts val="800"/>
              </a:spcAft>
              <a:buSzPct val="100000"/>
              <a:buChar char="•"/>
            </a:pPr>
            <a:r>
              <a:rPr lang="en-US" sz="1400" dirty="0">
                <a:solidFill>
                  <a:schemeClr val="accent6"/>
                </a:solidFill>
                <a:latin typeface="Calibri" pitchFamily="34" charset="0"/>
                <a:ea typeface="Calibri" pitchFamily="34" charset="-122"/>
                <a:cs typeface="Calibri" pitchFamily="34" charset="-120"/>
              </a:rPr>
              <a:t>Encrypted file storage, TLS, regulatory review</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8046720" cy="1737360"/>
          </a:xfrm>
          <a:prstGeom prst="rect">
            <a:avLst/>
          </a:prstGeom>
          <a:noFill/>
          <a:ln/>
        </p:spPr>
        <p:txBody>
          <a:bodyPr wrap="square" lIns="0" tIns="0" rIns="0" bIns="0" rtlCol="0" anchor="ctr"/>
          <a:lstStyle/>
          <a:p>
            <a:pPr algn="l" indent="0" marL="0">
              <a:buNone/>
            </a:pPr>
            <a:r>
              <a:rPr lang="en-US" sz="4400" b="1" dirty="0">
                <a:solidFill>
                  <a:schemeClr val="bg1"/>
                </a:solidFill>
              </a:rPr>
              <a:t>Patient approves. Doctor signs. Everything is logged.</a:t>
            </a:r>
            <a:endParaRPr lang="en-US" sz="4400" dirty="0"/>
          </a:p>
        </p:txBody>
      </p:sp>
      <p:sp>
        <p:nvSpPr>
          <p:cNvPr id="3" name="Repository"/>
          <p:cNvSpPr txBox="1"/>
          <p:nvPr/>
        </p:nvSpPr>
        <p:spPr>
          <a:xfrm>
            <a:off x="548640" y="2834640"/>
            <a:ext cx="8046720" cy="457200"/>
          </a:xfrm>
          <a:prstGeom prst="rect">
            <a:avLst/>
          </a:prstGeom>
          <a:noFill/>
          <a:ln/>
        </p:spPr>
        <p:txBody>
          <a:bodyPr wrap="square" lIns="0" tIns="0" rIns="0" bIns="0" rtlCol="0" anchor="ctr"/>
          <a:lstStyle/>
          <a:p>
            <a:pPr indent="0" marL="0">
              <a:buNone/>
            </a:pPr>
            <a:r>
              <a:rPr lang="en-US" sz="2400" b="1" dirty="0">
                <a:solidFill>
                  <a:schemeClr val="accent6"/>
                </a:solidFill>
                <a:latin typeface="Calibri" pitchFamily="34" charset="0"/>
                <a:ea typeface="Calibri" pitchFamily="34" charset="-122"/>
                <a:cs typeface="Calibri" pitchFamily="34" charset="-120"/>
              </a:rPr>
              <a:t>github.com/Anshib-m/Offgrid-</a:t>
            </a:r>
            <a:endParaRPr lang="en-US" sz="2400" dirty="0"/>
          </a:p>
        </p:txBody>
      </p:sp>
      <p:sp>
        <p:nvSpPr>
          <p:cNvPr id="4" name="Team line"/>
          <p:cNvSpPr txBox="1"/>
          <p:nvPr/>
        </p:nvSpPr>
        <p:spPr>
          <a:xfrm>
            <a:off x="548640" y="3429000"/>
            <a:ext cx="8046720" cy="365760"/>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Open source (MIT)  |  Team Offgrid: Anshib M, Ahmed Safwan, Joffin Jaison, Alan KP</a:t>
            </a:r>
            <a:endParaRPr lang="en-US" sz="1600" dirty="0"/>
          </a:p>
        </p:txBody>
      </p:sp>
      <p:sp>
        <p:nvSpPr>
          <p:cNvPr id="5" name="Thanks"/>
          <p:cNvSpPr txBox="1"/>
          <p:nvPr/>
        </p:nvSpPr>
        <p:spPr>
          <a:xfrm>
            <a:off x="548640" y="4069080"/>
            <a:ext cx="8046720" cy="365760"/>
          </a:xfrm>
          <a:prstGeom prst="rect">
            <a:avLst/>
          </a:prstGeom>
          <a:noFill/>
          <a:ln/>
        </p:spPr>
        <p:txBody>
          <a:bodyPr wrap="square" lIns="0" tIns="0" rIns="0" bIns="0" rtlCol="0" anchor="ctr"/>
          <a:lstStyle/>
          <a:p>
            <a:pPr indent="0" marL="0">
              <a:buNone/>
            </a:pPr>
            <a:r>
              <a:rPr lang="en-US" sz="1600" dirty="0">
                <a:solidFill>
                  <a:schemeClr val="accent5"/>
                </a:solidFill>
                <a:latin typeface="Calibri" pitchFamily="34" charset="0"/>
                <a:ea typeface="Calibri" pitchFamily="34" charset="-122"/>
                <a:cs typeface="Calibri" pitchFamily="34" charset="-120"/>
              </a:rPr>
              <a:t>Thank you. Questions?</a:t>
            </a:r>
            <a:endParaRPr lang="en-US" sz="1600" dirty="0"/>
          </a:p>
        </p:txBody>
      </p:sp>
    </p:spTree>
  </p:cSld>
  <p:clrMapOvr>
    <a:masterClrMapping/>
  </p:clrMapOvr>
</p:sld>
</file>

<file path=ppt/theme/theme1.xml><?xml version="1.0" encoding="utf-8"?>
<a:theme xmlns:a="http://schemas.openxmlformats.org/drawingml/2006/main" name="Offgrid">
  <a:themeElements>
    <a:clrScheme name="Offgrid">
      <a:dk1>
        <a:srgbClr val="0B1220"/>
      </a:dk1>
      <a:lt1>
        <a:srgbClr val="FFFFFF"/>
      </a:lt1>
      <a:dk2>
        <a:srgbClr val="0D1526"/>
      </a:dk2>
      <a:lt2>
        <a:srgbClr val="F1F6F5"/>
      </a:lt2>
      <a:accent1>
        <a:srgbClr val="10B981"/>
      </a:accent1>
      <a:accent2>
        <a:srgbClr val="4CD7F6"/>
      </a:accent2>
      <a:accent3>
        <a:srgbClr val="F59E0B"/>
      </a:accent3>
      <a:accent4>
        <a:srgbClr val="F43F5E"/>
      </a:accent4>
      <a:accent5>
        <a:srgbClr val="64748B"/>
      </a:accent5>
      <a:accent6>
        <a:srgbClr val="4EDEA3"/>
      </a:accent6>
      <a:hlink>
        <a:srgbClr val="10B981"/>
      </a:hlink>
      <a:folHlink>
        <a:srgbClr val="64748B"/>
      </a:folHlink>
    </a:clrScheme>
    <a:fontScheme name="Offgri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Offgrid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Offgrid pitch</dc:title>
  <dc:subject>PptxGenJS Presentation</dc:subject>
  <dc:creator>Team Offgrid</dc:creator>
  <cp:lastModifiedBy>Team Offgrid</cp:lastModifiedBy>
  <cp:revision>1</cp:revision>
  <dcterms:created xsi:type="dcterms:W3CDTF">2026-10-05T11:33:38Z</dcterms:created>
  <dcterms:modified xsi:type="dcterms:W3CDTF">2026-10-05T11:33:38Z</dcterms:modified>
</cp:coreProperties>
</file>